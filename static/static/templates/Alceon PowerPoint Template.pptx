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816" r:id="rId4"/>
  </p:sldMasterIdLst>
  <p:notesMasterIdLst>
    <p:notesMasterId r:id="rId11"/>
  </p:notesMasterIdLst>
  <p:handoutMasterIdLst>
    <p:handoutMasterId r:id="rId12"/>
  </p:handoutMasterIdLst>
  <p:sldIdLst>
    <p:sldId id="302" r:id="rId5"/>
    <p:sldId id="3501" r:id="rId6"/>
    <p:sldId id="3505" r:id="rId7"/>
    <p:sldId id="3510" r:id="rId8"/>
    <p:sldId id="3504" r:id="rId9"/>
    <p:sldId id="3503" r:id="rId10"/>
  </p:sldIdLst>
  <p:sldSz cx="12801600" cy="9601200" type="A3"/>
  <p:notesSz cx="7010400" cy="9296400"/>
  <p:embeddedFontLst>
    <p:embeddedFont>
      <p:font typeface="Aharoni" panose="02010803020104030203" pitchFamily="2" charset="-79"/>
      <p:bold r:id="rId13"/>
    </p:embeddedFont>
    <p:embeddedFont>
      <p:font typeface="Proxima Nova" panose="02000506030000020004" charset="0"/>
      <p:regular r:id="rId14"/>
      <p:bold r:id="rId15"/>
      <p:italic r:id="rId16"/>
      <p:boldItalic r:id="rId17"/>
    </p:embeddedFont>
    <p:embeddedFont>
      <p:font typeface="Verdana" panose="020B0604030504040204" pitchFamily="34" charset="0"/>
      <p:regular r:id="rId18"/>
      <p:bold r:id="rId19"/>
      <p:italic r:id="rId20"/>
      <p:boldItalic r:id="rId21"/>
    </p:embeddedFont>
  </p:embeddedFontLst>
  <p:custDataLst>
    <p:tags r:id="rId22"/>
  </p:custDataLst>
  <p:defaultTextStyle>
    <a:defPPr>
      <a:defRPr lang="en-US"/>
    </a:defPPr>
    <a:lvl1pPr marL="0" algn="l" defTabSz="537667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1pPr>
    <a:lvl2pPr marL="537667" algn="l" defTabSz="537667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2pPr>
    <a:lvl3pPr marL="1075334" algn="l" defTabSz="537667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3pPr>
    <a:lvl4pPr marL="1613002" algn="l" defTabSz="537667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4pPr>
    <a:lvl5pPr marL="2150669" algn="l" defTabSz="537667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5pPr>
    <a:lvl6pPr marL="2688336" algn="l" defTabSz="537667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6pPr>
    <a:lvl7pPr marL="3226003" algn="l" defTabSz="537667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7pPr>
    <a:lvl8pPr marL="3763670" algn="l" defTabSz="537667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8pPr>
    <a:lvl9pPr marL="4301338" algn="l" defTabSz="537667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72FA"/>
    <a:srgbClr val="CECECE"/>
    <a:srgbClr val="A7A7A7"/>
    <a:srgbClr val="3A0FFF"/>
    <a:srgbClr val="EB483F"/>
    <a:srgbClr val="FFFFFF"/>
    <a:srgbClr val="E8E8E8"/>
    <a:srgbClr val="6442FF"/>
    <a:srgbClr val="00447A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59" autoAdjust="0"/>
    <p:restoredTop sz="89346" autoAdjust="0"/>
  </p:normalViewPr>
  <p:slideViewPr>
    <p:cSldViewPr snapToGrid="0">
      <p:cViewPr varScale="1">
        <p:scale>
          <a:sx n="98" d="100"/>
          <a:sy n="98" d="100"/>
        </p:scale>
        <p:origin x="536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9.fntdata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Relationship Id="rId22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768EDB5-8626-2268-47BE-FCF87DD7579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580919-0769-8AF6-EA53-B2A2B12FB5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F53C2-97AF-4A00-AD30-F244174F7868}" type="datetimeFigureOut">
              <a:rPr lang="en-AU" smtClean="0"/>
              <a:t>15/02/2026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046906-99FC-5A9A-151D-CC12C2FE946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3C414E-CF29-E235-E2AB-034960A58F7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3437AB-7BC0-4E7B-8999-9FED68A308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00461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7840" cy="466435"/>
          </a:xfrm>
          <a:prstGeom prst="rect">
            <a:avLst/>
          </a:prstGeom>
        </p:spPr>
        <p:txBody>
          <a:bodyPr vert="horz" lIns="91412" tIns="45707" rIns="91412" bIns="4570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40" y="0"/>
            <a:ext cx="3037840" cy="466435"/>
          </a:xfrm>
          <a:prstGeom prst="rect">
            <a:avLst/>
          </a:prstGeom>
        </p:spPr>
        <p:txBody>
          <a:bodyPr vert="horz" lIns="91412" tIns="45707" rIns="91412" bIns="45707" rtlCol="0"/>
          <a:lstStyle>
            <a:lvl1pPr algn="r">
              <a:defRPr sz="1200"/>
            </a:lvl1pPr>
          </a:lstStyle>
          <a:p>
            <a:fld id="{E3456678-33B5-E94F-BEE2-4B4DDC98883C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6050" y="1163638"/>
            <a:ext cx="4178300" cy="3133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12" tIns="45707" rIns="91412" bIns="4570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2" y="4473892"/>
            <a:ext cx="5608320" cy="3660458"/>
          </a:xfrm>
          <a:prstGeom prst="rect">
            <a:avLst/>
          </a:prstGeom>
        </p:spPr>
        <p:txBody>
          <a:bodyPr vert="horz" lIns="91412" tIns="45707" rIns="91412" bIns="45707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829969"/>
            <a:ext cx="3037840" cy="466435"/>
          </a:xfrm>
          <a:prstGeom prst="rect">
            <a:avLst/>
          </a:prstGeom>
        </p:spPr>
        <p:txBody>
          <a:bodyPr vert="horz" lIns="91412" tIns="45707" rIns="91412" bIns="4570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40" y="8829969"/>
            <a:ext cx="3037840" cy="466435"/>
          </a:xfrm>
          <a:prstGeom prst="rect">
            <a:avLst/>
          </a:prstGeom>
        </p:spPr>
        <p:txBody>
          <a:bodyPr vert="horz" lIns="91412" tIns="45707" rIns="91412" bIns="45707" rtlCol="0" anchor="b"/>
          <a:lstStyle>
            <a:lvl1pPr algn="r">
              <a:defRPr sz="1200"/>
            </a:lvl1pPr>
          </a:lstStyle>
          <a:p>
            <a:fld id="{56BA420B-5CCC-D042-838A-461475D08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593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1pPr>
    <a:lvl2pPr marL="537667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2pPr>
    <a:lvl3pPr marL="1075334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3pPr>
    <a:lvl4pPr marL="1613002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4pPr>
    <a:lvl5pPr marL="2150669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5pPr>
    <a:lvl6pPr marL="2688336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6pPr>
    <a:lvl7pPr marL="3226003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7pPr>
    <a:lvl8pPr marL="3763670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8pPr>
    <a:lvl9pPr marL="4301338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BA420B-5CCC-D042-838A-461475D089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30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B0114-D2A6-B559-7794-EC2809558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F0DAC5-392E-E6B8-26B8-36017903B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16050" y="1163638"/>
            <a:ext cx="4178300" cy="3133725"/>
          </a:xfrm>
        </p:spPr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BF7E26-090A-C86E-0931-CA1D86A4F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8D0F5-0A2E-DC3C-7332-4E1D30CBF5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BA420B-5CCC-D042-838A-461475D089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6133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FE134-E9FB-B9EB-F26A-C2EA4E4DB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84197F-BF56-138A-AB0E-2D621E5E78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16050" y="1163638"/>
            <a:ext cx="4178300" cy="3133725"/>
          </a:xfrm>
        </p:spPr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D6D81C-B9FD-EF95-57BF-A266AFA6C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76A4F-CF2F-7524-8D18-118EC5D6F1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BA420B-5CCC-D042-838A-461475D089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876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DA1BE-1BAD-4424-524E-CEFDF8B76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91ACF2-F48A-D7DD-E7A6-80113C3D45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16050" y="1163638"/>
            <a:ext cx="4178300" cy="3133725"/>
          </a:xfrm>
        </p:spPr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36138C-6351-3EE5-707E-2F71D70C7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45D8E-4B2A-3799-FCBF-73C5582999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BA420B-5CCC-D042-838A-461475D089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594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2DD08-244B-23E0-0EDE-C5351285A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3A6DA0-7C6C-7878-0AC5-1CA77C597F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16050" y="1163638"/>
            <a:ext cx="4178300" cy="3133725"/>
          </a:xfrm>
        </p:spPr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610FD-F1BF-EA9A-7763-1CBD51A8D4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411CF-AC42-08FE-B4F6-0B14CE3CA4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BA420B-5CCC-D042-838A-461475D0895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399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white and grey background&#10;&#10;AI-generated content may be incorrect.">
            <a:extLst>
              <a:ext uri="{FF2B5EF4-FFF2-40B4-BE49-F238E27FC236}">
                <a16:creationId xmlns:a16="http://schemas.microsoft.com/office/drawing/2014/main" id="{A7672C2D-1953-622A-4C99-E3DF981860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25000"/>
          <a:stretch>
            <a:fillRect/>
          </a:stretch>
        </p:blipFill>
        <p:spPr>
          <a:xfrm>
            <a:off x="0" y="0"/>
            <a:ext cx="12801600" cy="96012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D3FBDE-924D-6019-F7D4-5A801E8CF2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09054" y="555283"/>
            <a:ext cx="5448843" cy="1280160"/>
          </a:xfrm>
        </p:spPr>
        <p:txBody>
          <a:bodyPr wrap="square" lIns="0" tIns="0" rIns="0" bIns="0"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BCBD518-DBF8-F114-94F9-27A9573306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6648" y="6522081"/>
            <a:ext cx="5068302" cy="378653"/>
          </a:xfrm>
        </p:spPr>
        <p:txBody>
          <a:bodyPr lIns="0" tIns="0" rIns="0" bIns="0" anchor="ctr">
            <a:noAutofit/>
          </a:bodyPr>
          <a:lstStyle>
            <a:lvl1pPr algn="ctr">
              <a:lnSpc>
                <a:spcPct val="75000"/>
              </a:lnSpc>
              <a:buNone/>
              <a:defRPr lang="en-GB" sz="2000" b="0" dirty="0">
                <a:solidFill>
                  <a:srgbClr val="6442FF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defRPr>
            </a:lvl1pPr>
            <a:lvl2pPr marL="0">
              <a:lnSpc>
                <a:spcPct val="85000"/>
              </a:lnSpc>
              <a:spcBef>
                <a:spcPts val="1400"/>
              </a:spcBef>
              <a:buNone/>
              <a:defRPr lang="en-GB" dirty="0"/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marL="180010" lvl="0" indent="-180010">
              <a:lnSpc>
                <a:spcPct val="85000"/>
              </a:lnSpc>
              <a:spcBef>
                <a:spcPct val="0"/>
              </a:spcBef>
            </a:pPr>
            <a:r>
              <a:rPr lang="en-GB" dirty="0"/>
              <a:t>Click to add subtitle</a:t>
            </a:r>
          </a:p>
        </p:txBody>
      </p:sp>
      <p:pic>
        <p:nvPicPr>
          <p:cNvPr id="14" name="Picture 13" descr="A close up of a sign&#10;&#10;AI-generated content may be incorrect.">
            <a:extLst>
              <a:ext uri="{FF2B5EF4-FFF2-40B4-BE49-F238E27FC236}">
                <a16:creationId xmlns:a16="http://schemas.microsoft.com/office/drawing/2014/main" id="{95972A46-C42F-03DA-1EE9-0AE3C71496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84863" y="3268618"/>
            <a:ext cx="4831872" cy="1531982"/>
          </a:xfrm>
          <a:prstGeom prst="rect">
            <a:avLst/>
          </a:prstGeom>
        </p:spPr>
      </p:pic>
      <p:sp>
        <p:nvSpPr>
          <p:cNvPr id="22" name="Title 21">
            <a:extLst>
              <a:ext uri="{FF2B5EF4-FFF2-40B4-BE49-F238E27FC236}">
                <a16:creationId xmlns:a16="http://schemas.microsoft.com/office/drawing/2014/main" id="{0687A571-DA59-AA33-F8B7-8A8269FF0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8795" y="5852740"/>
            <a:ext cx="6544009" cy="529201"/>
          </a:xfrm>
          <a:prstGeom prst="rect">
            <a:avLst/>
          </a:prstGeom>
        </p:spPr>
        <p:txBody>
          <a:bodyPr/>
          <a:lstStyle>
            <a:lvl1pPr algn="ctr">
              <a:defRPr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89144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8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white and grey background&#10;&#10;AI-generated content may be incorrect.">
            <a:extLst>
              <a:ext uri="{FF2B5EF4-FFF2-40B4-BE49-F238E27FC236}">
                <a16:creationId xmlns:a16="http://schemas.microsoft.com/office/drawing/2014/main" id="{A7672C2D-1953-622A-4C99-E3DF981860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25000"/>
          <a:stretch>
            <a:fillRect/>
          </a:stretch>
        </p:blipFill>
        <p:spPr>
          <a:xfrm>
            <a:off x="0" y="0"/>
            <a:ext cx="12801600" cy="96012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D3FBDE-924D-6019-F7D4-5A801E8CF2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09054" y="555283"/>
            <a:ext cx="5448843" cy="1280160"/>
          </a:xfrm>
        </p:spPr>
        <p:txBody>
          <a:bodyPr wrap="square" lIns="0" tIns="0" rIns="0" bIns="0"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BCBD518-DBF8-F114-94F9-27A9573306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9361" y="3369808"/>
            <a:ext cx="9587865" cy="378653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75000"/>
              </a:lnSpc>
              <a:buNone/>
              <a:defRPr lang="en-GB" sz="2000" b="0" dirty="0">
                <a:solidFill>
                  <a:srgbClr val="6442FF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defRPr>
            </a:lvl1pPr>
            <a:lvl2pPr marL="0">
              <a:lnSpc>
                <a:spcPct val="85000"/>
              </a:lnSpc>
              <a:spcBef>
                <a:spcPts val="1400"/>
              </a:spcBef>
              <a:buNone/>
              <a:defRPr lang="en-GB" dirty="0"/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marL="180010" lvl="0" indent="-180010">
              <a:lnSpc>
                <a:spcPct val="85000"/>
              </a:lnSpc>
              <a:spcBef>
                <a:spcPct val="0"/>
              </a:spcBef>
            </a:pPr>
            <a:r>
              <a:rPr lang="en-GB" dirty="0"/>
              <a:t>Click to add subtitle</a:t>
            </a:r>
          </a:p>
        </p:txBody>
      </p:sp>
      <p:pic>
        <p:nvPicPr>
          <p:cNvPr id="14" name="Picture 13" descr="A close up of a sign&#10;&#10;AI-generated content may be incorrect.">
            <a:extLst>
              <a:ext uri="{FF2B5EF4-FFF2-40B4-BE49-F238E27FC236}">
                <a16:creationId xmlns:a16="http://schemas.microsoft.com/office/drawing/2014/main" id="{95972A46-C42F-03DA-1EE9-0AE3C71496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3108" y="1493513"/>
            <a:ext cx="2829811" cy="897213"/>
          </a:xfrm>
          <a:prstGeom prst="rect">
            <a:avLst/>
          </a:prstGeom>
        </p:spPr>
      </p:pic>
      <p:sp>
        <p:nvSpPr>
          <p:cNvPr id="22" name="Title 21">
            <a:extLst>
              <a:ext uri="{FF2B5EF4-FFF2-40B4-BE49-F238E27FC236}">
                <a16:creationId xmlns:a16="http://schemas.microsoft.com/office/drawing/2014/main" id="{0687A571-DA59-AA33-F8B7-8A8269FF0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108" y="2765491"/>
            <a:ext cx="6544009" cy="529201"/>
          </a:xfrm>
          <a:prstGeom prst="rect">
            <a:avLst/>
          </a:prstGeo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8F5C44ED-2994-9A2E-260A-A602EA6FDD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9361" y="4035413"/>
            <a:ext cx="2625892" cy="378653"/>
          </a:xfrm>
          <a:solidFill>
            <a:srgbClr val="7872FA"/>
          </a:solidFill>
        </p:spPr>
        <p:txBody>
          <a:bodyPr lIns="0" tIns="0" rIns="0" bIns="0" anchor="ctr">
            <a:noAutofit/>
          </a:bodyPr>
          <a:lstStyle>
            <a:lvl1pPr>
              <a:lnSpc>
                <a:spcPct val="75000"/>
              </a:lnSpc>
              <a:buNone/>
              <a:defRPr lang="en-GB" sz="15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defRPr>
            </a:lvl1pPr>
            <a:lvl2pPr marL="0">
              <a:lnSpc>
                <a:spcPct val="85000"/>
              </a:lnSpc>
              <a:spcBef>
                <a:spcPts val="1400"/>
              </a:spcBef>
              <a:buNone/>
              <a:defRPr lang="en-GB" dirty="0"/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marL="180010" lvl="0" indent="-180010">
              <a:lnSpc>
                <a:spcPct val="85000"/>
              </a:lnSpc>
              <a:spcBef>
                <a:spcPct val="0"/>
              </a:spcBef>
            </a:pPr>
            <a:r>
              <a:rPr lang="en-GB" dirty="0"/>
              <a:t>Click to add date</a:t>
            </a:r>
          </a:p>
        </p:txBody>
      </p:sp>
    </p:spTree>
    <p:extLst>
      <p:ext uri="{BB962C8B-B14F-4D97-AF65-F5344CB8AC3E}">
        <p14:creationId xmlns:p14="http://schemas.microsoft.com/office/powerpoint/2010/main" val="2320579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8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BB4E27A4-F85C-727F-7C88-EC8C817A5607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49F8D5-02D0-D945-856F-5BA75B7DE2AC}"/>
              </a:ext>
            </a:extLst>
          </p:cNvPr>
          <p:cNvSpPr txBox="1"/>
          <p:nvPr userDrawn="1"/>
        </p:nvSpPr>
        <p:spPr>
          <a:xfrm>
            <a:off x="2007539" y="8786554"/>
            <a:ext cx="184731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9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83105D-05DF-359A-A47F-1421A1168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06526" y="9197434"/>
            <a:ext cx="2167040" cy="153888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b="0">
                <a:cs typeface="Aharoni" panose="02010803020104030203" pitchFamily="2" charset="-79"/>
              </a:rPr>
              <a:t>Level26 Labs </a:t>
            </a:r>
            <a:r>
              <a:rPr lang="en-AU" b="0">
                <a:cs typeface="Aharoni" panose="02010803020104030203" pitchFamily="2" charset="-79"/>
              </a:rPr>
              <a:t>/ </a:t>
            </a:r>
            <a:fld id="{96455A53-7991-6C43-A624-F19D5D4C804E}" type="slidenum">
              <a:rPr lang="en-US" b="0" smtClean="0"/>
              <a:pPr/>
              <a:t>‹#›</a:t>
            </a:fld>
            <a:endParaRPr lang="en-US" sz="1000" b="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20BBB46-C584-D828-8162-4ECBB89D13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2022" y="558148"/>
            <a:ext cx="9532332" cy="54707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lnSpc>
                <a:spcPct val="85000"/>
              </a:lnSpc>
              <a:defRPr sz="3000" b="1">
                <a:solidFill>
                  <a:schemeClr val="tx1"/>
                </a:solidFill>
                <a:latin typeface="+mj-lt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0488169-58D4-3FFD-39ED-A2C2F8A517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1970" y="1454555"/>
            <a:ext cx="9601200" cy="31393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360018" indent="0">
              <a:buNone/>
              <a:defRPr sz="1800" b="1">
                <a:solidFill>
                  <a:schemeClr val="tx2"/>
                </a:solidFill>
              </a:defRPr>
            </a:lvl2pPr>
            <a:lvl3pPr>
              <a:buFont typeface="Wingdings" panose="05000000000000000000" pitchFamily="2" charset="2"/>
              <a:buChar char="§"/>
              <a:defRPr sz="1400" b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buFont typeface="Wingdings" panose="05000000000000000000" pitchFamily="2" charset="2"/>
              <a:buChar char="§"/>
              <a:defRPr sz="1400" b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buFont typeface="Wingdings" panose="05000000000000000000" pitchFamily="2" charset="2"/>
              <a:buChar char="§"/>
              <a:defRPr sz="1400" b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44B052FC-32F9-8FC5-D523-AE466DC04C74}"/>
              </a:ext>
            </a:extLst>
          </p:cNvPr>
          <p:cNvSpPr txBox="1">
            <a:spLocks/>
          </p:cNvSpPr>
          <p:nvPr userDrawn="1"/>
        </p:nvSpPr>
        <p:spPr>
          <a:xfrm>
            <a:off x="669701" y="9197435"/>
            <a:ext cx="3466542" cy="153888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defPPr>
              <a:defRPr lang="en-US"/>
            </a:defPPr>
            <a:lvl1pPr marL="0" algn="r" defTabSz="537667" rtl="0" eaLnBrk="1" latinLnBrk="0" hangingPunct="1">
              <a:defRPr sz="900" b="1" kern="1200">
                <a:solidFill>
                  <a:schemeClr val="tx1"/>
                </a:solidFill>
                <a:latin typeface="Onest" pitchFamily="2" charset="0"/>
                <a:ea typeface="+mn-ea"/>
                <a:cs typeface="+mn-cs"/>
              </a:defRPr>
            </a:lvl1pPr>
            <a:lvl2pPr marL="537667" algn="l" defTabSz="537667" rtl="0" eaLnBrk="1" latinLnBrk="0" hangingPunct="1">
              <a:defRPr sz="21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5334" algn="l" defTabSz="537667" rtl="0" eaLnBrk="1" latinLnBrk="0" hangingPunct="1">
              <a:defRPr sz="21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13002" algn="l" defTabSz="537667" rtl="0" eaLnBrk="1" latinLnBrk="0" hangingPunct="1">
              <a:defRPr sz="21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0669" algn="l" defTabSz="537667" rtl="0" eaLnBrk="1" latinLnBrk="0" hangingPunct="1">
              <a:defRPr sz="21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8336" algn="l" defTabSz="537667" rtl="0" eaLnBrk="1" latinLnBrk="0" hangingPunct="1">
              <a:defRPr sz="21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26003" algn="l" defTabSz="537667" rtl="0" eaLnBrk="1" latinLnBrk="0" hangingPunct="1">
              <a:defRPr sz="21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63670" algn="l" defTabSz="537667" rtl="0" eaLnBrk="1" latinLnBrk="0" hangingPunct="1">
              <a:defRPr sz="21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01338" algn="l" defTabSz="537667" rtl="0" eaLnBrk="1" latinLnBrk="0" hangingPunct="1">
              <a:defRPr sz="21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Aharoni" panose="02010803020104030203" pitchFamily="2" charset="-79"/>
              </a:rPr>
              <a:t>Level26 Labs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B9AA67-3A46-1329-3190-ACBBB3E54C5F}"/>
              </a:ext>
            </a:extLst>
          </p:cNvPr>
          <p:cNvCxnSpPr>
            <a:cxnSpLocks/>
          </p:cNvCxnSpPr>
          <p:nvPr userDrawn="1"/>
        </p:nvCxnSpPr>
        <p:spPr>
          <a:xfrm flipH="1">
            <a:off x="669701" y="1107583"/>
            <a:ext cx="1160386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5987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61" userDrawn="1">
          <p15:clr>
            <a:srgbClr val="FBAE40"/>
          </p15:clr>
        </p15:guide>
        <p15:guide id="2" pos="403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dditional -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 not remove" hidden="1">
            <a:extLst>
              <a:ext uri="{FF2B5EF4-FFF2-40B4-BE49-F238E27FC236}">
                <a16:creationId xmlns:a16="http://schemas.microsoft.com/office/drawing/2014/main" id="{EFDDD7F0-4DEA-AB58-A243-1E3164EF54AF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7" name="Picture 6" descr="A white and grey background&#10;&#10;AI-generated content may be incorrect.">
            <a:extLst>
              <a:ext uri="{FF2B5EF4-FFF2-40B4-BE49-F238E27FC236}">
                <a16:creationId xmlns:a16="http://schemas.microsoft.com/office/drawing/2014/main" id="{682A4BD2-95F1-869E-2FA6-E12C3116E17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25000"/>
          <a:stretch>
            <a:fillRect/>
          </a:stretch>
        </p:blipFill>
        <p:spPr>
          <a:xfrm>
            <a:off x="0" y="0"/>
            <a:ext cx="12801600" cy="960120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A9B0B8D-39CD-C88F-900E-E867075BD8DF}"/>
              </a:ext>
            </a:extLst>
          </p:cNvPr>
          <p:cNvSpPr/>
          <p:nvPr userDrawn="1"/>
        </p:nvSpPr>
        <p:spPr>
          <a:xfrm>
            <a:off x="0" y="7009208"/>
            <a:ext cx="12801600" cy="2591990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DA686B7-2CBC-6F79-78ED-242DED29B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109996"/>
            <a:ext cx="12801600" cy="726509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lang="en-AU" sz="2800" b="1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 dirty="0"/>
              <a:t>Click to edit Master title style</a:t>
            </a:r>
            <a:endParaRPr lang="en-AU" dirty="0"/>
          </a:p>
        </p:txBody>
      </p:sp>
      <p:pic>
        <p:nvPicPr>
          <p:cNvPr id="10" name="Picture 9" descr="A blue numbers on a black background&#10;&#10;AI-generated content may be incorrect.">
            <a:extLst>
              <a:ext uri="{FF2B5EF4-FFF2-40B4-BE49-F238E27FC236}">
                <a16:creationId xmlns:a16="http://schemas.microsoft.com/office/drawing/2014/main" id="{07C7D6FD-763E-B59D-6687-481B4C26B82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6249" y="6484659"/>
            <a:ext cx="1049102" cy="1049102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678081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dditional -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and grey background&#10;&#10;AI-generated content may be incorrect.">
            <a:extLst>
              <a:ext uri="{FF2B5EF4-FFF2-40B4-BE49-F238E27FC236}">
                <a16:creationId xmlns:a16="http://schemas.microsoft.com/office/drawing/2014/main" id="{682A4BD2-95F1-869E-2FA6-E12C3116E17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25000"/>
          <a:stretch>
            <a:fillRect/>
          </a:stretch>
        </p:blipFill>
        <p:spPr>
          <a:xfrm>
            <a:off x="0" y="0"/>
            <a:ext cx="12801600" cy="9601200"/>
          </a:xfrm>
          <a:prstGeom prst="rect">
            <a:avLst/>
          </a:prstGeom>
        </p:spPr>
      </p:pic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BC9B8857-EE33-AD8E-0E03-0E941754BA59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17"/>
          </a:p>
        </p:txBody>
      </p:sp>
      <p:pic>
        <p:nvPicPr>
          <p:cNvPr id="10" name="Picture 9" descr="A blue numbers on a black background&#10;&#10;AI-generated content may be incorrect.">
            <a:extLst>
              <a:ext uri="{FF2B5EF4-FFF2-40B4-BE49-F238E27FC236}">
                <a16:creationId xmlns:a16="http://schemas.microsoft.com/office/drawing/2014/main" id="{07C7D6FD-763E-B59D-6687-481B4C26B82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2235" y="3129818"/>
            <a:ext cx="3859718" cy="3859718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  <p:pic>
        <p:nvPicPr>
          <p:cNvPr id="2" name="Picture 1" descr="A blue numbers on a black background&#10;&#10;AI-generated content may be incorrect.">
            <a:extLst>
              <a:ext uri="{FF2B5EF4-FFF2-40B4-BE49-F238E27FC236}">
                <a16:creationId xmlns:a16="http://schemas.microsoft.com/office/drawing/2014/main" id="{9A8A1E6B-D698-E665-FE84-D8E87C3CA3D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duotone>
              <a:prstClr val="black"/>
              <a:srgbClr val="7872FA">
                <a:tint val="45000"/>
                <a:satMod val="400000"/>
              </a:srgbClr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82972" y="2812988"/>
            <a:ext cx="3859718" cy="3859718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  <p:pic>
        <p:nvPicPr>
          <p:cNvPr id="4" name="Picture 3" descr="A blue numbers on a black background&#10;&#10;AI-generated content may be incorrect.">
            <a:extLst>
              <a:ext uri="{FF2B5EF4-FFF2-40B4-BE49-F238E27FC236}">
                <a16:creationId xmlns:a16="http://schemas.microsoft.com/office/drawing/2014/main" id="{56E0E620-BBFA-9E05-9A9F-58E65A1B01D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788583" y="2496156"/>
            <a:ext cx="3859718" cy="3859718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6474747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F29DD34-9487-D84C-8C83-6F65608ED9A6}"/>
              </a:ext>
            </a:extLst>
          </p:cNvPr>
          <p:cNvSpPr/>
          <p:nvPr userDrawn="1"/>
        </p:nvSpPr>
        <p:spPr>
          <a:xfrm>
            <a:off x="12973429" y="0"/>
            <a:ext cx="321466" cy="1108800"/>
          </a:xfrm>
          <a:prstGeom prst="rect">
            <a:avLst/>
          </a:prstGeom>
          <a:solidFill>
            <a:srgbClr val="644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18">
              <a:solidFill>
                <a:srgbClr val="6442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1DE13E-FFAB-5C4D-B8D4-08110C4DD0C8}"/>
              </a:ext>
            </a:extLst>
          </p:cNvPr>
          <p:cNvSpPr/>
          <p:nvPr userDrawn="1"/>
        </p:nvSpPr>
        <p:spPr>
          <a:xfrm>
            <a:off x="12969107" y="5353005"/>
            <a:ext cx="321466" cy="11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18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278C3F8-5B07-3542-BC0C-E7D2B3151D28}"/>
              </a:ext>
            </a:extLst>
          </p:cNvPr>
          <p:cNvSpPr/>
          <p:nvPr userDrawn="1"/>
        </p:nvSpPr>
        <p:spPr>
          <a:xfrm>
            <a:off x="12973429" y="1106805"/>
            <a:ext cx="321466" cy="1108800"/>
          </a:xfrm>
          <a:prstGeom prst="rect">
            <a:avLst/>
          </a:prstGeom>
          <a:solidFill>
            <a:srgbClr val="7872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18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E616C91-E03B-9946-8708-46A101A5FFB0}"/>
              </a:ext>
            </a:extLst>
          </p:cNvPr>
          <p:cNvSpPr/>
          <p:nvPr userDrawn="1"/>
        </p:nvSpPr>
        <p:spPr>
          <a:xfrm>
            <a:off x="12973429" y="2213610"/>
            <a:ext cx="321466" cy="1108800"/>
          </a:xfrm>
          <a:prstGeom prst="rect">
            <a:avLst/>
          </a:prstGeom>
          <a:solidFill>
            <a:srgbClr val="3A0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18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94C2A2C-11DC-BA40-9EAB-3ED861094CCB}"/>
              </a:ext>
            </a:extLst>
          </p:cNvPr>
          <p:cNvSpPr/>
          <p:nvPr userDrawn="1"/>
        </p:nvSpPr>
        <p:spPr>
          <a:xfrm>
            <a:off x="12973429" y="4246200"/>
            <a:ext cx="321466" cy="11088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18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890D427-4754-1D40-A536-385E85482C50}"/>
              </a:ext>
            </a:extLst>
          </p:cNvPr>
          <p:cNvSpPr/>
          <p:nvPr userDrawn="1"/>
        </p:nvSpPr>
        <p:spPr>
          <a:xfrm>
            <a:off x="12973429" y="3320415"/>
            <a:ext cx="321466" cy="1108800"/>
          </a:xfrm>
          <a:prstGeom prst="rect">
            <a:avLst/>
          </a:prstGeom>
          <a:solidFill>
            <a:srgbClr val="CE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18"/>
          </a:p>
        </p:txBody>
      </p:sp>
      <p:pic>
        <p:nvPicPr>
          <p:cNvPr id="6" name="Picture 5" descr="A close up of a sign&#10;&#10;AI-generated content may be incorrect.">
            <a:extLst>
              <a:ext uri="{FF2B5EF4-FFF2-40B4-BE49-F238E27FC236}">
                <a16:creationId xmlns:a16="http://schemas.microsoft.com/office/drawing/2014/main" id="{F0549120-7CA0-3FD6-2B5D-5BBD27BC676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354039" y="418678"/>
            <a:ext cx="1973276" cy="62564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A5248CB-CD4A-90B5-C380-D0B47F311BAD}"/>
              </a:ext>
            </a:extLst>
          </p:cNvPr>
          <p:cNvSpPr/>
          <p:nvPr userDrawn="1"/>
        </p:nvSpPr>
        <p:spPr>
          <a:xfrm>
            <a:off x="12964785" y="6459810"/>
            <a:ext cx="321466" cy="110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18"/>
          </a:p>
        </p:txBody>
      </p:sp>
    </p:spTree>
    <p:extLst>
      <p:ext uri="{BB962C8B-B14F-4D97-AF65-F5344CB8AC3E}">
        <p14:creationId xmlns:p14="http://schemas.microsoft.com/office/powerpoint/2010/main" val="591192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32" r:id="rId2"/>
    <p:sldLayoutId id="2147483931" r:id="rId3"/>
    <p:sldLayoutId id="2147483938" r:id="rId4"/>
    <p:sldLayoutId id="2147483939" r:id="rId5"/>
  </p:sldLayoutIdLst>
  <p:hf hdr="0" dt="0"/>
  <p:txStyles>
    <p:titleStyle>
      <a:lvl1pPr algn="l" defTabSz="720038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10" indent="-180010" algn="l" defTabSz="720038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28" indent="-180010" algn="l" defTabSz="720038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049" indent="-180010" algn="l" defTabSz="720038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067" indent="-180010" algn="l" defTabSz="720038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086" indent="-180010" algn="l" defTabSz="720038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104" indent="-180010" algn="l" defTabSz="720038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124" indent="-180010" algn="l" defTabSz="720038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143" indent="-180010" algn="l" defTabSz="720038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161" indent="-180010" algn="l" defTabSz="720038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38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20" algn="l" defTabSz="720038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38" algn="l" defTabSz="720038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058" algn="l" defTabSz="720038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077" algn="l" defTabSz="720038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094" algn="l" defTabSz="720038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113" algn="l" defTabSz="720038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133" algn="l" defTabSz="720038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152" algn="l" defTabSz="720038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24" userDrawn="1">
          <p15:clr>
            <a:srgbClr val="F26B43"/>
          </p15:clr>
        </p15:guide>
        <p15:guide id="2" pos="40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3E31E182-A27A-3DDC-9DA1-A39306730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201" y="5705256"/>
            <a:ext cx="8793194" cy="529201"/>
          </a:xfrm>
        </p:spPr>
        <p:txBody>
          <a:bodyPr/>
          <a:lstStyle/>
          <a:p>
            <a:pPr algn="ctr"/>
            <a:r>
              <a:rPr lang="en-AU" dirty="0"/>
              <a:t>AI Consulting &amp; Development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05B0F-9619-D241-0044-C88A3BD8FE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66647" y="6374597"/>
            <a:ext cx="5068302" cy="378653"/>
          </a:xfrm>
        </p:spPr>
        <p:txBody>
          <a:bodyPr/>
          <a:lstStyle/>
          <a:p>
            <a:r>
              <a:rPr lang="en-AU" b="1" dirty="0"/>
              <a:t>Introduction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36511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C0660-BB62-AEA4-62E0-23F1F4D15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40DDA5F2-5D21-D1D1-187C-0CF38DD8C95D}"/>
              </a:ext>
            </a:extLst>
          </p:cNvPr>
          <p:cNvSpPr txBox="1"/>
          <p:nvPr/>
        </p:nvSpPr>
        <p:spPr>
          <a:xfrm>
            <a:off x="2378816" y="2101488"/>
            <a:ext cx="79969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rgbClr val="7872FA"/>
                </a:solidFill>
                <a:latin typeface="+mj-lt"/>
              </a:rPr>
              <a:t>We help our clients formulate and execute AI strategies that unlock real value.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19F8750-99EC-2445-E664-7B0BFAEF29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What we do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A2F7E9AE-E143-2B72-66D6-6389A542EE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06526" y="9197434"/>
            <a:ext cx="2167040" cy="153888"/>
          </a:xfrm>
          <a:prstGeom prst="rect">
            <a:avLst/>
          </a:prstGeom>
        </p:spPr>
        <p:txBody>
          <a:bodyPr/>
          <a:lstStyle/>
          <a:p>
            <a:r>
              <a:rPr lang="en-US" b="0" dirty="0"/>
              <a:t>Level26.ai / Page </a:t>
            </a:r>
            <a:fld id="{96455A53-7991-6C43-A624-F19D5D4C804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Rounded Rectangle 30">
            <a:extLst>
              <a:ext uri="{FF2B5EF4-FFF2-40B4-BE49-F238E27FC236}">
                <a16:creationId xmlns:a16="http://schemas.microsoft.com/office/drawing/2014/main" id="{D762BE45-1669-AD9B-31E0-4834265A65FC}"/>
              </a:ext>
            </a:extLst>
          </p:cNvPr>
          <p:cNvSpPr/>
          <p:nvPr/>
        </p:nvSpPr>
        <p:spPr>
          <a:xfrm>
            <a:off x="1817139" y="3828921"/>
            <a:ext cx="2813910" cy="1180962"/>
          </a:xfrm>
          <a:prstGeom prst="roundRect">
            <a:avLst/>
          </a:prstGeom>
          <a:solidFill>
            <a:srgbClr val="CE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Strategy and Use‑Case Roadmapping</a:t>
            </a:r>
          </a:p>
        </p:txBody>
      </p:sp>
      <p:sp>
        <p:nvSpPr>
          <p:cNvPr id="8" name="Rounded Rectangle 30">
            <a:extLst>
              <a:ext uri="{FF2B5EF4-FFF2-40B4-BE49-F238E27FC236}">
                <a16:creationId xmlns:a16="http://schemas.microsoft.com/office/drawing/2014/main" id="{92358CB9-DA32-D4B8-6126-597C99FDA569}"/>
              </a:ext>
            </a:extLst>
          </p:cNvPr>
          <p:cNvSpPr/>
          <p:nvPr/>
        </p:nvSpPr>
        <p:spPr>
          <a:xfrm>
            <a:off x="4970317" y="3828921"/>
            <a:ext cx="2813910" cy="1180962"/>
          </a:xfrm>
          <a:prstGeom prst="roundRect">
            <a:avLst/>
          </a:prstGeom>
          <a:solidFill>
            <a:srgbClr val="CE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Data and Platform Engineering</a:t>
            </a:r>
          </a:p>
        </p:txBody>
      </p:sp>
      <p:sp>
        <p:nvSpPr>
          <p:cNvPr id="9" name="Rounded Rectangle 30">
            <a:extLst>
              <a:ext uri="{FF2B5EF4-FFF2-40B4-BE49-F238E27FC236}">
                <a16:creationId xmlns:a16="http://schemas.microsoft.com/office/drawing/2014/main" id="{9A9785B6-8775-35A4-B470-63EB80DB9BD6}"/>
              </a:ext>
            </a:extLst>
          </p:cNvPr>
          <p:cNvSpPr/>
          <p:nvPr/>
        </p:nvSpPr>
        <p:spPr>
          <a:xfrm>
            <a:off x="8123495" y="3828921"/>
            <a:ext cx="2813910" cy="1180962"/>
          </a:xfrm>
          <a:prstGeom prst="roundRect">
            <a:avLst/>
          </a:prstGeom>
          <a:solidFill>
            <a:srgbClr val="CE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Custom Copilots</a:t>
            </a:r>
          </a:p>
        </p:txBody>
      </p:sp>
      <p:sp>
        <p:nvSpPr>
          <p:cNvPr id="10" name="Rounded Rectangle 30">
            <a:extLst>
              <a:ext uri="{FF2B5EF4-FFF2-40B4-BE49-F238E27FC236}">
                <a16:creationId xmlns:a16="http://schemas.microsoft.com/office/drawing/2014/main" id="{4019C74E-90BE-9B1B-9717-780F818A7D56}"/>
              </a:ext>
            </a:extLst>
          </p:cNvPr>
          <p:cNvSpPr/>
          <p:nvPr/>
        </p:nvSpPr>
        <p:spPr>
          <a:xfrm>
            <a:off x="1817139" y="5312896"/>
            <a:ext cx="2813910" cy="1180962"/>
          </a:xfrm>
          <a:prstGeom prst="roundRect">
            <a:avLst/>
          </a:prstGeom>
          <a:solidFill>
            <a:srgbClr val="7872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Autonomous and Orchestrated Agents</a:t>
            </a:r>
          </a:p>
        </p:txBody>
      </p:sp>
      <p:sp>
        <p:nvSpPr>
          <p:cNvPr id="11" name="Rounded Rectangle 30">
            <a:extLst>
              <a:ext uri="{FF2B5EF4-FFF2-40B4-BE49-F238E27FC236}">
                <a16:creationId xmlns:a16="http://schemas.microsoft.com/office/drawing/2014/main" id="{E66ECB1E-D311-C60D-0ABD-74E82A2A1C9B}"/>
              </a:ext>
            </a:extLst>
          </p:cNvPr>
          <p:cNvSpPr/>
          <p:nvPr/>
        </p:nvSpPr>
        <p:spPr>
          <a:xfrm>
            <a:off x="4970317" y="5312895"/>
            <a:ext cx="2813910" cy="1180962"/>
          </a:xfrm>
          <a:prstGeom prst="roundRect">
            <a:avLst/>
          </a:prstGeom>
          <a:solidFill>
            <a:srgbClr val="7872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RAG &amp; Enterprise Knowledge Search</a:t>
            </a:r>
          </a:p>
        </p:txBody>
      </p:sp>
      <p:sp>
        <p:nvSpPr>
          <p:cNvPr id="16" name="Rounded Rectangle 30">
            <a:extLst>
              <a:ext uri="{FF2B5EF4-FFF2-40B4-BE49-F238E27FC236}">
                <a16:creationId xmlns:a16="http://schemas.microsoft.com/office/drawing/2014/main" id="{1203B275-F3A3-9BAA-6F97-D6368EC12510}"/>
              </a:ext>
            </a:extLst>
          </p:cNvPr>
          <p:cNvSpPr/>
          <p:nvPr/>
        </p:nvSpPr>
        <p:spPr>
          <a:xfrm>
            <a:off x="8123495" y="5312895"/>
            <a:ext cx="2813910" cy="1180962"/>
          </a:xfrm>
          <a:prstGeom prst="roundRect">
            <a:avLst/>
          </a:prstGeom>
          <a:solidFill>
            <a:srgbClr val="7872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Model Fine‑Tuning &amp; Optimisation</a:t>
            </a:r>
          </a:p>
        </p:txBody>
      </p:sp>
      <p:sp>
        <p:nvSpPr>
          <p:cNvPr id="21" name="Rounded Rectangle 30">
            <a:extLst>
              <a:ext uri="{FF2B5EF4-FFF2-40B4-BE49-F238E27FC236}">
                <a16:creationId xmlns:a16="http://schemas.microsoft.com/office/drawing/2014/main" id="{FF988FA1-4BA5-C280-AE38-332A1A35D191}"/>
              </a:ext>
            </a:extLst>
          </p:cNvPr>
          <p:cNvSpPr/>
          <p:nvPr/>
        </p:nvSpPr>
        <p:spPr>
          <a:xfrm>
            <a:off x="1817139" y="6796872"/>
            <a:ext cx="2813910" cy="118096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AI Integration &amp; Automation</a:t>
            </a:r>
          </a:p>
        </p:txBody>
      </p:sp>
      <p:sp>
        <p:nvSpPr>
          <p:cNvPr id="22" name="Rounded Rectangle 30">
            <a:extLst>
              <a:ext uri="{FF2B5EF4-FFF2-40B4-BE49-F238E27FC236}">
                <a16:creationId xmlns:a16="http://schemas.microsoft.com/office/drawing/2014/main" id="{E3356171-DF2F-02F6-795D-F50675D23B99}"/>
              </a:ext>
            </a:extLst>
          </p:cNvPr>
          <p:cNvSpPr/>
          <p:nvPr/>
        </p:nvSpPr>
        <p:spPr>
          <a:xfrm>
            <a:off x="4970317" y="6796871"/>
            <a:ext cx="2813910" cy="118096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Governance, Risk &amp; Compliance</a:t>
            </a:r>
          </a:p>
        </p:txBody>
      </p:sp>
      <p:sp>
        <p:nvSpPr>
          <p:cNvPr id="23" name="Rounded Rectangle 30">
            <a:extLst>
              <a:ext uri="{FF2B5EF4-FFF2-40B4-BE49-F238E27FC236}">
                <a16:creationId xmlns:a16="http://schemas.microsoft.com/office/drawing/2014/main" id="{76E11909-550A-FA68-9614-DBDEC5154BA5}"/>
              </a:ext>
            </a:extLst>
          </p:cNvPr>
          <p:cNvSpPr/>
          <p:nvPr/>
        </p:nvSpPr>
        <p:spPr>
          <a:xfrm>
            <a:off x="8123495" y="6796871"/>
            <a:ext cx="2813910" cy="118096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Training, Enablement &amp; Change Management</a:t>
            </a:r>
          </a:p>
        </p:txBody>
      </p:sp>
    </p:spTree>
    <p:extLst>
      <p:ext uri="{BB962C8B-B14F-4D97-AF65-F5344CB8AC3E}">
        <p14:creationId xmlns:p14="http://schemas.microsoft.com/office/powerpoint/2010/main" val="230756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237DD-AF83-999F-25F1-C9A6F408E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D0D9630-ED28-3E92-B895-4FB7BF9C7B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How we do it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74BC4040-0731-0323-5E1E-AE32910570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06526" y="9197434"/>
            <a:ext cx="2167040" cy="153888"/>
          </a:xfrm>
          <a:prstGeom prst="rect">
            <a:avLst/>
          </a:prstGeom>
        </p:spPr>
        <p:txBody>
          <a:bodyPr/>
          <a:lstStyle/>
          <a:p>
            <a:r>
              <a:rPr lang="en-US" b="0" dirty="0"/>
              <a:t>Level26.ai / Page </a:t>
            </a:r>
            <a:fld id="{96455A53-7991-6C43-A624-F19D5D4C804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Rounded Rectangle 30">
            <a:extLst>
              <a:ext uri="{FF2B5EF4-FFF2-40B4-BE49-F238E27FC236}">
                <a16:creationId xmlns:a16="http://schemas.microsoft.com/office/drawing/2014/main" id="{C916FB5C-EAE6-4303-6531-829D32CC54FE}"/>
              </a:ext>
            </a:extLst>
          </p:cNvPr>
          <p:cNvSpPr/>
          <p:nvPr/>
        </p:nvSpPr>
        <p:spPr>
          <a:xfrm>
            <a:off x="708597" y="2827556"/>
            <a:ext cx="3669260" cy="4435123"/>
          </a:xfrm>
          <a:prstGeom prst="roundRect">
            <a:avLst>
              <a:gd name="adj" fmla="val 7190"/>
            </a:avLst>
          </a:prstGeom>
          <a:solidFill>
            <a:srgbClr val="7872FA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Rounded Rectangle 30">
            <a:extLst>
              <a:ext uri="{FF2B5EF4-FFF2-40B4-BE49-F238E27FC236}">
                <a16:creationId xmlns:a16="http://schemas.microsoft.com/office/drawing/2014/main" id="{4C2899B6-EE9D-368C-7FF3-63A9A184DF14}"/>
              </a:ext>
            </a:extLst>
          </p:cNvPr>
          <p:cNvSpPr/>
          <p:nvPr/>
        </p:nvSpPr>
        <p:spPr>
          <a:xfrm>
            <a:off x="4572745" y="2827555"/>
            <a:ext cx="3669260" cy="4435123"/>
          </a:xfrm>
          <a:prstGeom prst="roundRect">
            <a:avLst>
              <a:gd name="adj" fmla="val 6839"/>
            </a:avLst>
          </a:prstGeom>
          <a:solidFill>
            <a:srgbClr val="CECECE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Rounded Rectangle 30">
            <a:extLst>
              <a:ext uri="{FF2B5EF4-FFF2-40B4-BE49-F238E27FC236}">
                <a16:creationId xmlns:a16="http://schemas.microsoft.com/office/drawing/2014/main" id="{EF2FAA9E-30A1-6D9A-0284-94F5529AA9C0}"/>
              </a:ext>
            </a:extLst>
          </p:cNvPr>
          <p:cNvSpPr/>
          <p:nvPr/>
        </p:nvSpPr>
        <p:spPr>
          <a:xfrm>
            <a:off x="8489877" y="2827555"/>
            <a:ext cx="3669260" cy="4435123"/>
          </a:xfrm>
          <a:prstGeom prst="roundRect">
            <a:avLst>
              <a:gd name="adj" fmla="val 5435"/>
            </a:avLst>
          </a:prstGeom>
          <a:solidFill>
            <a:srgbClr val="CECECE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2B58AE-D5D8-1953-B5CF-F9B3E3B2FD54}"/>
              </a:ext>
            </a:extLst>
          </p:cNvPr>
          <p:cNvSpPr txBox="1"/>
          <p:nvPr/>
        </p:nvSpPr>
        <p:spPr>
          <a:xfrm>
            <a:off x="708597" y="3786958"/>
            <a:ext cx="36692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+mj-lt"/>
              </a:rPr>
              <a:t>Assess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45A0A6-7F72-EB8D-A287-AE842BF8E8B1}"/>
              </a:ext>
            </a:extLst>
          </p:cNvPr>
          <p:cNvSpPr txBox="1"/>
          <p:nvPr/>
        </p:nvSpPr>
        <p:spPr>
          <a:xfrm>
            <a:off x="4572745" y="3786958"/>
            <a:ext cx="36692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rgbClr val="7872FA"/>
                </a:solidFill>
                <a:latin typeface="+mj-lt"/>
              </a:rPr>
              <a:t>Sprint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313E97-E4D3-9043-5B55-2BCF066D311B}"/>
              </a:ext>
            </a:extLst>
          </p:cNvPr>
          <p:cNvSpPr txBox="1"/>
          <p:nvPr/>
        </p:nvSpPr>
        <p:spPr>
          <a:xfrm>
            <a:off x="8489877" y="3786958"/>
            <a:ext cx="366925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rgbClr val="7872FA"/>
                </a:solidFill>
                <a:latin typeface="+mj-lt"/>
              </a:rPr>
              <a:t>Scale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0A957E-FE6E-7F29-5F6A-6DA5EBB1EDB7}"/>
              </a:ext>
            </a:extLst>
          </p:cNvPr>
          <p:cNvSpPr txBox="1"/>
          <p:nvPr/>
        </p:nvSpPr>
        <p:spPr>
          <a:xfrm>
            <a:off x="708597" y="3463793"/>
            <a:ext cx="36692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 Month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6E015C-5D26-8761-19B5-9699C23A67D1}"/>
              </a:ext>
            </a:extLst>
          </p:cNvPr>
          <p:cNvSpPr txBox="1"/>
          <p:nvPr/>
        </p:nvSpPr>
        <p:spPr>
          <a:xfrm>
            <a:off x="4572744" y="3463793"/>
            <a:ext cx="36692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 Month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DF9097-B56B-D638-0CF2-0A17C743755B}"/>
              </a:ext>
            </a:extLst>
          </p:cNvPr>
          <p:cNvSpPr txBox="1"/>
          <p:nvPr/>
        </p:nvSpPr>
        <p:spPr>
          <a:xfrm>
            <a:off x="8489876" y="3463793"/>
            <a:ext cx="36692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Ongoing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B0AAD5-110C-359A-3A91-C4F6BC2F9497}"/>
              </a:ext>
            </a:extLst>
          </p:cNvPr>
          <p:cNvSpPr txBox="1"/>
          <p:nvPr/>
        </p:nvSpPr>
        <p:spPr>
          <a:xfrm>
            <a:off x="1149150" y="4554053"/>
            <a:ext cx="278815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dig into your workflows, spot the bottlenecks, and map out where AI can make the biggest impact.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8CC5BB-2302-F867-9901-018E16B3E8C4}"/>
              </a:ext>
            </a:extLst>
          </p:cNvPr>
          <p:cNvSpPr txBox="1"/>
          <p:nvPr/>
        </p:nvSpPr>
        <p:spPr>
          <a:xfrm>
            <a:off x="5039790" y="4554053"/>
            <a:ext cx="278815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Build time. We create one high-value AI solution, test it with your team, and get it working in your day-to-day.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88D0DC-8A0D-E3A2-A060-3D05014B1EC7}"/>
              </a:ext>
            </a:extLst>
          </p:cNvPr>
          <p:cNvSpPr txBox="1"/>
          <p:nvPr/>
        </p:nvSpPr>
        <p:spPr>
          <a:xfrm>
            <a:off x="8868590" y="4554052"/>
            <a:ext cx="291183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Roll out more use cases, fine-tune what's working, train your team, and keep everything running smoothly.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C16A71-8EE2-CB74-3416-24E36C03AA61}"/>
              </a:ext>
            </a:extLst>
          </p:cNvPr>
          <p:cNvSpPr txBox="1"/>
          <p:nvPr/>
        </p:nvSpPr>
        <p:spPr>
          <a:xfrm>
            <a:off x="1349992" y="5919804"/>
            <a:ext cx="238646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Clr>
                <a:schemeClr val="bg1"/>
              </a:buClr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Process deep-dive</a:t>
            </a:r>
          </a:p>
          <a:p>
            <a:pPr marL="285750" indent="-285750" algn="l">
              <a:buClr>
                <a:schemeClr val="bg1"/>
              </a:buClr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Workflow mapping</a:t>
            </a:r>
          </a:p>
          <a:p>
            <a:pPr marL="285750" indent="-285750" algn="l">
              <a:buClr>
                <a:schemeClr val="bg1"/>
              </a:buClr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ROI roadmap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73073F-8014-9E79-F878-6E1B50B34F48}"/>
              </a:ext>
            </a:extLst>
          </p:cNvPr>
          <p:cNvSpPr txBox="1"/>
          <p:nvPr/>
        </p:nvSpPr>
        <p:spPr>
          <a:xfrm>
            <a:off x="5240633" y="5919803"/>
            <a:ext cx="238646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Clr>
                <a:srgbClr val="7872FA"/>
              </a:buClr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Fast prototyping</a:t>
            </a:r>
          </a:p>
          <a:p>
            <a:pPr marL="285750" indent="-285750" algn="l">
              <a:buClr>
                <a:srgbClr val="7872FA"/>
              </a:buClr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Real AI deployment</a:t>
            </a:r>
          </a:p>
          <a:p>
            <a:pPr marL="285750" indent="-285750" algn="l">
              <a:buClr>
                <a:srgbClr val="7872FA"/>
              </a:buClr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Team testing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375889-20E4-67C0-9AC2-D7B0AF6F6CA4}"/>
              </a:ext>
            </a:extLst>
          </p:cNvPr>
          <p:cNvSpPr txBox="1"/>
          <p:nvPr/>
        </p:nvSpPr>
        <p:spPr>
          <a:xfrm>
            <a:off x="8917495" y="5919802"/>
            <a:ext cx="281401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Clr>
                <a:srgbClr val="7872FA"/>
              </a:buClr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Deploy more use cases</a:t>
            </a:r>
          </a:p>
          <a:p>
            <a:pPr marL="285750" indent="-285750" algn="l">
              <a:buClr>
                <a:srgbClr val="7872FA"/>
              </a:buClr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Continuous improvement</a:t>
            </a:r>
          </a:p>
          <a:p>
            <a:pPr marL="285750" indent="-285750" algn="l">
              <a:buClr>
                <a:srgbClr val="7872FA"/>
              </a:buClr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Team training &amp; support</a:t>
            </a:r>
          </a:p>
        </p:txBody>
      </p:sp>
    </p:spTree>
    <p:extLst>
      <p:ext uri="{BB962C8B-B14F-4D97-AF65-F5344CB8AC3E}">
        <p14:creationId xmlns:p14="http://schemas.microsoft.com/office/powerpoint/2010/main" val="1503340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A6D83-49EA-6D09-D361-B5094250E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08F5712-E7DC-C7B9-117B-3B482E78F0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Assess (1 month)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348ADCF4-B4AB-18BE-FFF3-56FD9A89C4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06526" y="9197434"/>
            <a:ext cx="2167040" cy="153888"/>
          </a:xfrm>
          <a:prstGeom prst="rect">
            <a:avLst/>
          </a:prstGeom>
        </p:spPr>
        <p:txBody>
          <a:bodyPr/>
          <a:lstStyle/>
          <a:p>
            <a:r>
              <a:rPr lang="en-US" b="0" dirty="0"/>
              <a:t>Level26.ai / Page </a:t>
            </a:r>
            <a:fld id="{96455A53-7991-6C43-A624-F19D5D4C804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A7DA09A-2B1A-240A-B9AD-44A5E7581BDC}"/>
              </a:ext>
            </a:extLst>
          </p:cNvPr>
          <p:cNvSpPr/>
          <p:nvPr/>
        </p:nvSpPr>
        <p:spPr>
          <a:xfrm>
            <a:off x="2766799" y="2301832"/>
            <a:ext cx="2821006" cy="1231490"/>
          </a:xfrm>
          <a:prstGeom prst="roundRect">
            <a:avLst>
              <a:gd name="adj" fmla="val 72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14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Week 1</a:t>
            </a:r>
            <a:br>
              <a:rPr lang="en-AU" sz="1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</a:br>
            <a:r>
              <a:rPr lang="en-AU" sz="1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Stakeholder Interviews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F041042-7C10-14FB-D7D7-1DC8B0D1CB86}"/>
              </a:ext>
            </a:extLst>
          </p:cNvPr>
          <p:cNvSpPr/>
          <p:nvPr/>
        </p:nvSpPr>
        <p:spPr>
          <a:xfrm>
            <a:off x="2766799" y="3782286"/>
            <a:ext cx="2821006" cy="1231490"/>
          </a:xfrm>
          <a:prstGeom prst="roundRect">
            <a:avLst>
              <a:gd name="adj" fmla="val 914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14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Week 2</a:t>
            </a:r>
            <a:br>
              <a:rPr lang="en-AU" sz="1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</a:br>
            <a:r>
              <a:rPr lang="en-AU" sz="1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Process Analysis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2924250-57BE-864C-4A1C-761AAF3A9DCC}"/>
              </a:ext>
            </a:extLst>
          </p:cNvPr>
          <p:cNvSpPr/>
          <p:nvPr/>
        </p:nvSpPr>
        <p:spPr>
          <a:xfrm>
            <a:off x="2766799" y="5364838"/>
            <a:ext cx="2821006" cy="1231200"/>
          </a:xfrm>
          <a:prstGeom prst="roundRect">
            <a:avLst>
              <a:gd name="adj" fmla="val 914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14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Week 3</a:t>
            </a:r>
            <a:br>
              <a:rPr lang="en-AU" sz="1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</a:br>
            <a:r>
              <a:rPr lang="en-AU" sz="1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Opportunity Identification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C119FC9-27B6-B72B-B1BB-7CBD233EFDFB}"/>
              </a:ext>
            </a:extLst>
          </p:cNvPr>
          <p:cNvSpPr/>
          <p:nvPr/>
        </p:nvSpPr>
        <p:spPr>
          <a:xfrm>
            <a:off x="2766799" y="6872362"/>
            <a:ext cx="2821006" cy="1231200"/>
          </a:xfrm>
          <a:prstGeom prst="roundRect">
            <a:avLst>
              <a:gd name="adj" fmla="val 914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14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Week 4</a:t>
            </a:r>
          </a:p>
          <a:p>
            <a:pPr algn="ctr"/>
            <a:r>
              <a:rPr lang="en-AU" sz="1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Validation and Roadmap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B5A113E-6F4A-ED16-8363-F087670DE8CF}"/>
              </a:ext>
            </a:extLst>
          </p:cNvPr>
          <p:cNvSpPr/>
          <p:nvPr/>
        </p:nvSpPr>
        <p:spPr>
          <a:xfrm>
            <a:off x="702022" y="2301832"/>
            <a:ext cx="1761349" cy="2711943"/>
          </a:xfrm>
          <a:prstGeom prst="roundRect">
            <a:avLst>
              <a:gd name="adj" fmla="val 9438"/>
            </a:avLst>
          </a:prstGeom>
          <a:solidFill>
            <a:srgbClr val="7872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1400" b="1" u="sng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Discovery</a:t>
            </a:r>
            <a:br>
              <a:rPr lang="en-AU" sz="14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</a:br>
            <a:br>
              <a:rPr lang="en-AU" sz="14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</a:br>
            <a:r>
              <a:rPr lang="en-AU" sz="1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Understand the business and identify pain points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8DD7116-0487-9777-BA78-DFCEAB6C1ACB}"/>
              </a:ext>
            </a:extLst>
          </p:cNvPr>
          <p:cNvSpPr/>
          <p:nvPr/>
        </p:nvSpPr>
        <p:spPr>
          <a:xfrm>
            <a:off x="702022" y="5364548"/>
            <a:ext cx="1761349" cy="2711943"/>
          </a:xfrm>
          <a:prstGeom prst="roundRect">
            <a:avLst>
              <a:gd name="adj" fmla="val 9438"/>
            </a:avLst>
          </a:prstGeom>
          <a:solidFill>
            <a:srgbClr val="7872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1400" b="1" u="sng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Solution Design</a:t>
            </a:r>
            <a:br>
              <a:rPr lang="en-AU" sz="14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</a:br>
            <a:br>
              <a:rPr lang="en-AU" sz="14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</a:br>
            <a:r>
              <a:rPr lang="en-AU" sz="1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Identify opportunities and create roadmap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7A42E91-434F-C6B4-A4FA-E9AA58123B7B}"/>
              </a:ext>
            </a:extLst>
          </p:cNvPr>
          <p:cNvSpPr/>
          <p:nvPr/>
        </p:nvSpPr>
        <p:spPr>
          <a:xfrm>
            <a:off x="5932476" y="2301832"/>
            <a:ext cx="6074944" cy="1231490"/>
          </a:xfrm>
          <a:prstGeom prst="roundRect">
            <a:avLst>
              <a:gd name="adj" fmla="val 9148"/>
            </a:avLst>
          </a:prstGeom>
          <a:solidFill>
            <a:srgbClr val="CE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13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Participants: </a:t>
            </a:r>
            <a:r>
              <a:rPr lang="en-US" sz="13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Key team members across departments</a:t>
            </a:r>
          </a:p>
          <a:p>
            <a:pPr algn="ctr"/>
            <a:r>
              <a:rPr lang="en-AU" sz="13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Focus: </a:t>
            </a:r>
            <a:r>
              <a:rPr lang="en-AU" sz="13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Pain points, repetitive tasks and decision bottlenecks</a:t>
            </a:r>
          </a:p>
          <a:p>
            <a:pPr algn="ctr"/>
            <a:r>
              <a:rPr lang="en-AU" sz="13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Deliverable: </a:t>
            </a:r>
            <a:r>
              <a:rPr lang="en-AU" sz="13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Interview summary document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4B8B598-1BD5-A90B-36F9-B8C68808626B}"/>
              </a:ext>
            </a:extLst>
          </p:cNvPr>
          <p:cNvSpPr/>
          <p:nvPr/>
        </p:nvSpPr>
        <p:spPr>
          <a:xfrm>
            <a:off x="5932477" y="3809646"/>
            <a:ext cx="6074943" cy="1206175"/>
          </a:xfrm>
          <a:prstGeom prst="roundRect">
            <a:avLst>
              <a:gd name="adj" fmla="val 8030"/>
            </a:avLst>
          </a:prstGeom>
          <a:solidFill>
            <a:srgbClr val="CE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13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Objective: </a:t>
            </a:r>
            <a:r>
              <a:rPr lang="en-AU" sz="13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Map select workflows and identify inefficiencies</a:t>
            </a:r>
          </a:p>
          <a:p>
            <a:pPr algn="ctr"/>
            <a:r>
              <a:rPr lang="en-AU" sz="13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Tasks: </a:t>
            </a:r>
            <a:r>
              <a:rPr lang="en-AU" sz="13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Tech stack review, understand data flows</a:t>
            </a:r>
          </a:p>
          <a:p>
            <a:pPr algn="ctr"/>
            <a:r>
              <a:rPr lang="en-AU" sz="13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Deliverable: </a:t>
            </a:r>
            <a:r>
              <a:rPr lang="en-AU" sz="13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Process maps and preliminary pain point inventory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B45FA1A-50AC-5818-4333-FD61EAE6BA70}"/>
              </a:ext>
            </a:extLst>
          </p:cNvPr>
          <p:cNvSpPr/>
          <p:nvPr/>
        </p:nvSpPr>
        <p:spPr>
          <a:xfrm>
            <a:off x="5932476" y="5364548"/>
            <a:ext cx="6033700" cy="1231490"/>
          </a:xfrm>
          <a:prstGeom prst="roundRect">
            <a:avLst>
              <a:gd name="adj" fmla="val 10088"/>
            </a:avLst>
          </a:prstGeom>
          <a:solidFill>
            <a:srgbClr val="CE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13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Objective: </a:t>
            </a:r>
            <a:r>
              <a:rPr lang="en-AU" sz="13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Identify use cases and evaluate feasibility</a:t>
            </a:r>
          </a:p>
          <a:p>
            <a:pPr algn="ctr"/>
            <a:r>
              <a:rPr lang="en-AU" sz="13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Tasks: </a:t>
            </a:r>
            <a:r>
              <a:rPr lang="en-AU" sz="13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Impact matrix, ROI estimate</a:t>
            </a:r>
          </a:p>
          <a:p>
            <a:pPr algn="ctr"/>
            <a:r>
              <a:rPr lang="en-AU" sz="13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Deliverable: </a:t>
            </a:r>
            <a:r>
              <a:rPr lang="en-AU" sz="13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Identification of high-impact opportunities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D996FBB-D233-19C4-CAD5-4CCD9E69374C}"/>
              </a:ext>
            </a:extLst>
          </p:cNvPr>
          <p:cNvSpPr/>
          <p:nvPr/>
        </p:nvSpPr>
        <p:spPr>
          <a:xfrm>
            <a:off x="5932476" y="6872362"/>
            <a:ext cx="6033700" cy="1231490"/>
          </a:xfrm>
          <a:prstGeom prst="roundRect">
            <a:avLst>
              <a:gd name="adj" fmla="val 8208"/>
            </a:avLst>
          </a:prstGeom>
          <a:solidFill>
            <a:srgbClr val="CE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13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Objective: </a:t>
            </a:r>
            <a:r>
              <a:rPr lang="en-AU" sz="13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Test assumptions and create execution plan</a:t>
            </a:r>
          </a:p>
          <a:p>
            <a:pPr algn="ctr"/>
            <a:r>
              <a:rPr lang="en-AU" sz="13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Tasks: </a:t>
            </a:r>
            <a:r>
              <a:rPr lang="en-AU" sz="13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Feedback sessions, 12-month plan</a:t>
            </a:r>
          </a:p>
          <a:p>
            <a:pPr algn="ctr"/>
            <a:r>
              <a:rPr lang="en-AU" sz="13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Deliverable: </a:t>
            </a:r>
            <a:r>
              <a:rPr lang="en-AU" sz="13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Actionable roadmap with identification of at least one quick-win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600914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E94AE-B4E4-7C96-CDB7-053DD048D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4A27487-8D22-39AE-6856-84D0A65816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Why work with us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8C7D1C99-7E5C-79EF-7410-FF384A19AF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06526" y="9197434"/>
            <a:ext cx="2167040" cy="153888"/>
          </a:xfrm>
          <a:prstGeom prst="rect">
            <a:avLst/>
          </a:prstGeom>
        </p:spPr>
        <p:txBody>
          <a:bodyPr/>
          <a:lstStyle/>
          <a:p>
            <a:r>
              <a:rPr lang="en-US" b="0" dirty="0"/>
              <a:t>Level26.ai / Page </a:t>
            </a:r>
            <a:fld id="{96455A53-7991-6C43-A624-F19D5D4C804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63B33B1-F79C-9A66-A37A-A7229A5302ED}"/>
              </a:ext>
            </a:extLst>
          </p:cNvPr>
          <p:cNvSpPr/>
          <p:nvPr/>
        </p:nvSpPr>
        <p:spPr>
          <a:xfrm>
            <a:off x="4845608" y="3302353"/>
            <a:ext cx="3052520" cy="1989787"/>
          </a:xfrm>
          <a:prstGeom prst="roundRect">
            <a:avLst>
              <a:gd name="adj" fmla="val 8253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Low Risk,</a:t>
            </a:r>
            <a:br>
              <a:rPr lang="en-AU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AU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High Impact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D5211FB-91DD-AA76-E3E2-413B5ADF9EC0}"/>
              </a:ext>
            </a:extLst>
          </p:cNvPr>
          <p:cNvSpPr/>
          <p:nvPr/>
        </p:nvSpPr>
        <p:spPr>
          <a:xfrm>
            <a:off x="1553692" y="3302353"/>
            <a:ext cx="3052520" cy="1989787"/>
          </a:xfrm>
          <a:prstGeom prst="roundRect">
            <a:avLst>
              <a:gd name="adj" fmla="val 1019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Fast</a:t>
            </a:r>
          </a:p>
          <a:p>
            <a:pPr algn="ctr"/>
            <a:r>
              <a:rPr lang="en-AU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Results</a:t>
            </a:r>
            <a:endParaRPr lang="en-US" sz="24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4705828-6818-C081-9E63-633BA4B2B34E}"/>
              </a:ext>
            </a:extLst>
          </p:cNvPr>
          <p:cNvSpPr/>
          <p:nvPr/>
        </p:nvSpPr>
        <p:spPr>
          <a:xfrm>
            <a:off x="8137526" y="3302353"/>
            <a:ext cx="3052520" cy="1989787"/>
          </a:xfrm>
          <a:prstGeom prst="roundRect">
            <a:avLst>
              <a:gd name="adj" fmla="val 1084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Measurable</a:t>
            </a:r>
            <a:br>
              <a:rPr lang="en-AU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AU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Returns</a:t>
            </a:r>
            <a:endParaRPr lang="en-US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CADF8DAA-93F8-8E94-35FA-B04653BC5CDD}"/>
              </a:ext>
            </a:extLst>
          </p:cNvPr>
          <p:cNvSpPr txBox="1">
            <a:spLocks/>
          </p:cNvSpPr>
          <p:nvPr/>
        </p:nvSpPr>
        <p:spPr>
          <a:xfrm>
            <a:off x="5958460" y="2948742"/>
            <a:ext cx="826816" cy="741289"/>
          </a:xfrm>
          <a:prstGeom prst="rect">
            <a:avLst/>
          </a:prstGeom>
        </p:spPr>
        <p:txBody>
          <a:bodyPr anchor="ctr"/>
          <a:lstStyle>
            <a:lvl1pPr algn="l" defTabSz="96009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20" b="1" kern="1200">
                <a:solidFill>
                  <a:srgbClr val="323332"/>
                </a:solidFill>
                <a:latin typeface="Proxima Nova" panose="02000506030000020004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6000" dirty="0">
                <a:solidFill>
                  <a:srgbClr val="7872FA"/>
                </a:solidFill>
                <a:latin typeface="+mj-lt"/>
                <a:ea typeface="Verdana" panose="020B0604030504040204" pitchFamily="34" charset="0"/>
              </a:rPr>
              <a:t>2</a:t>
            </a:r>
            <a:endParaRPr lang="en-AU" sz="6000" dirty="0">
              <a:solidFill>
                <a:srgbClr val="7872FA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498F08CC-656B-830D-F1FD-2A280F312A8C}"/>
              </a:ext>
            </a:extLst>
          </p:cNvPr>
          <p:cNvSpPr txBox="1">
            <a:spLocks/>
          </p:cNvSpPr>
          <p:nvPr/>
        </p:nvSpPr>
        <p:spPr>
          <a:xfrm>
            <a:off x="2666542" y="2931708"/>
            <a:ext cx="826816" cy="741289"/>
          </a:xfrm>
          <a:prstGeom prst="rect">
            <a:avLst/>
          </a:prstGeom>
        </p:spPr>
        <p:txBody>
          <a:bodyPr anchor="ctr"/>
          <a:lstStyle>
            <a:lvl1pPr algn="l" defTabSz="96009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20" b="1" kern="1200">
                <a:solidFill>
                  <a:srgbClr val="323332"/>
                </a:solidFill>
                <a:latin typeface="Proxima Nova" panose="02000506030000020004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6000" dirty="0">
                <a:solidFill>
                  <a:srgbClr val="7872FA"/>
                </a:solidFill>
                <a:latin typeface="+mj-lt"/>
                <a:ea typeface="Verdana" panose="020B0604030504040204" pitchFamily="34" charset="0"/>
              </a:rPr>
              <a:t>1</a:t>
            </a:r>
            <a:endParaRPr lang="en-AU" sz="6000" dirty="0">
              <a:solidFill>
                <a:srgbClr val="7872FA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6E6B1892-7C37-95AB-404D-EB11E0954D51}"/>
              </a:ext>
            </a:extLst>
          </p:cNvPr>
          <p:cNvSpPr txBox="1">
            <a:spLocks/>
          </p:cNvSpPr>
          <p:nvPr/>
        </p:nvSpPr>
        <p:spPr>
          <a:xfrm>
            <a:off x="9250376" y="2948742"/>
            <a:ext cx="826816" cy="741289"/>
          </a:xfrm>
          <a:prstGeom prst="rect">
            <a:avLst/>
          </a:prstGeom>
        </p:spPr>
        <p:txBody>
          <a:bodyPr anchor="ctr"/>
          <a:lstStyle>
            <a:lvl1pPr algn="l" defTabSz="96009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20" b="1" kern="1200">
                <a:solidFill>
                  <a:srgbClr val="323332"/>
                </a:solidFill>
                <a:latin typeface="Proxima Nova" panose="02000506030000020004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6000" dirty="0">
                <a:solidFill>
                  <a:srgbClr val="7872FA"/>
                </a:solidFill>
                <a:latin typeface="+mj-lt"/>
                <a:ea typeface="Verdana" panose="020B0604030504040204" pitchFamily="34" charset="0"/>
              </a:rPr>
              <a:t>3</a:t>
            </a:r>
            <a:endParaRPr lang="en-AU" sz="6000" dirty="0">
              <a:solidFill>
                <a:srgbClr val="7872FA"/>
              </a:solidFill>
              <a:latin typeface="+mj-lt"/>
              <a:ea typeface="Verdana" panose="020B060403050404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BBF8F4-4F9E-772E-7C91-1E10F286DB18}"/>
              </a:ext>
            </a:extLst>
          </p:cNvPr>
          <p:cNvSpPr txBox="1"/>
          <p:nvPr/>
        </p:nvSpPr>
        <p:spPr>
          <a:xfrm>
            <a:off x="1856819" y="5662785"/>
            <a:ext cx="244626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We build your first AI project in one month. Not a pilot. Not a proof-of-concept. An actual working solution your team can use.</a:t>
            </a:r>
            <a:endParaRPr lang="en-AU" sz="15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922B19-7EFD-D7C7-78B2-09D478015CAE}"/>
              </a:ext>
            </a:extLst>
          </p:cNvPr>
          <p:cNvSpPr txBox="1"/>
          <p:nvPr/>
        </p:nvSpPr>
        <p:spPr>
          <a:xfrm>
            <a:off x="5148737" y="5645751"/>
            <a:ext cx="2446261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500" b="0" i="0">
                <a:effectLst/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Start small with one focused project. See real results before you scale. No massive upfront investments or multi-year commitments.</a:t>
            </a:r>
            <a:endParaRPr lang="en-A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E1A6E0-5317-ABCB-9BD1-8AAA16771246}"/>
              </a:ext>
            </a:extLst>
          </p:cNvPr>
          <p:cNvSpPr txBox="1"/>
          <p:nvPr/>
        </p:nvSpPr>
        <p:spPr>
          <a:xfrm>
            <a:off x="8440653" y="5662785"/>
            <a:ext cx="2446261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500" b="0" i="0">
                <a:effectLst/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Every project comes with clear success metrics. We measure efficiency gains, cost savings, and business impact—not just technical specs.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05065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4872F225-72C0-C75D-2AAD-EBE4DC6BADFD}"/>
              </a:ext>
            </a:extLst>
          </p:cNvPr>
          <p:cNvSpPr txBox="1">
            <a:spLocks/>
          </p:cNvSpPr>
          <p:nvPr/>
        </p:nvSpPr>
        <p:spPr>
          <a:xfrm>
            <a:off x="0" y="7628649"/>
            <a:ext cx="12801600" cy="547072"/>
          </a:xfrm>
          <a:prstGeom prst="rect">
            <a:avLst/>
          </a:prstGeom>
        </p:spPr>
        <p:txBody>
          <a:bodyPr/>
          <a:lstStyle>
            <a:lvl1pPr algn="l" defTabSz="7200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b="1" dirty="0"/>
              <a:t>hello@level26.ai</a:t>
            </a:r>
          </a:p>
        </p:txBody>
      </p:sp>
    </p:spTree>
    <p:extLst>
      <p:ext uri="{BB962C8B-B14F-4D97-AF65-F5344CB8AC3E}">
        <p14:creationId xmlns:p14="http://schemas.microsoft.com/office/powerpoint/2010/main" val="30032014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H_FLYSHEET_STYLE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3_Title slide">
  <a:themeElements>
    <a:clrScheme name="Alceon Private Equity ">
      <a:dk1>
        <a:srgbClr val="323332"/>
      </a:dk1>
      <a:lt1>
        <a:srgbClr val="FFFFFF"/>
      </a:lt1>
      <a:dk2>
        <a:srgbClr val="00457C"/>
      </a:dk2>
      <a:lt2>
        <a:srgbClr val="E7E6E6"/>
      </a:lt2>
      <a:accent1>
        <a:srgbClr val="00457C"/>
      </a:accent1>
      <a:accent2>
        <a:srgbClr val="009DE6"/>
      </a:accent2>
      <a:accent3>
        <a:srgbClr val="68B7DB"/>
      </a:accent3>
      <a:accent4>
        <a:srgbClr val="7A6356"/>
      </a:accent4>
      <a:accent5>
        <a:srgbClr val="938072"/>
      </a:accent5>
      <a:accent6>
        <a:srgbClr val="B07D3C"/>
      </a:accent6>
      <a:hlink>
        <a:srgbClr val="00447A"/>
      </a:hlink>
      <a:folHlink>
        <a:srgbClr val="00447A"/>
      </a:folHlink>
    </a:clrScheme>
    <a:fontScheme name="Alceon">
      <a:majorFont>
        <a:latin typeface="Proxima Nova"/>
        <a:ea typeface=""/>
        <a:cs typeface=""/>
      </a:majorFont>
      <a:minorFont>
        <a:latin typeface="Proxima Nova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6572071CF69B345B9C9AC3DDC05F214" ma:contentTypeVersion="3" ma:contentTypeDescription="Create a new document." ma:contentTypeScope="" ma:versionID="48e98974a4313908c2dd47709d2dacf6">
  <xsd:schema xmlns:xsd="http://www.w3.org/2001/XMLSchema" xmlns:xs="http://www.w3.org/2001/XMLSchema" xmlns:p="http://schemas.microsoft.com/office/2006/metadata/properties" xmlns:ns2="7edb91c2-bed7-4c2a-ab11-5f703dd1bb5c" targetNamespace="http://schemas.microsoft.com/office/2006/metadata/properties" ma:root="true" ma:fieldsID="9bb864b41fde6544360936024870f355" ns2:_="">
    <xsd:import namespace="7edb91c2-bed7-4c2a-ab11-5f703dd1bb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db91c2-bed7-4c2a-ab11-5f703dd1bb5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849154C-1782-41A3-A498-9F36674BBF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edb91c2-bed7-4c2a-ab11-5f703dd1bb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F18E39A-BAC1-43D1-8954-C301C1813B8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0A5887-1A40-436C-8230-F768A7DB819B}">
  <ds:schemaRefs>
    <ds:schemaRef ds:uri="http://purl.org/dc/elements/1.1/"/>
    <ds:schemaRef ds:uri="http://purl.org/dc/dcmitype/"/>
    <ds:schemaRef ds:uri="http://schemas.microsoft.com/office/2006/metadata/properties"/>
    <ds:schemaRef ds:uri="http://purl.org/dc/terms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7edb91c2-bed7-4c2a-ab11-5f703dd1bb5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1749</TotalTime>
  <Words>432</Words>
  <Application>Microsoft Office PowerPoint</Application>
  <PresentationFormat>A3 Paper (297x420 mm)</PresentationFormat>
  <Paragraphs>73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Wingdings</vt:lpstr>
      <vt:lpstr>Proxima Nova</vt:lpstr>
      <vt:lpstr>Aptos</vt:lpstr>
      <vt:lpstr>Arial</vt:lpstr>
      <vt:lpstr>Aharoni</vt:lpstr>
      <vt:lpstr>Verdana</vt:lpstr>
      <vt:lpstr>Calibri</vt:lpstr>
      <vt:lpstr>3_Title slide</vt:lpstr>
      <vt:lpstr>AI Consulting &amp; Development</vt:lpstr>
      <vt:lpstr>What we do</vt:lpstr>
      <vt:lpstr>How we do it</vt:lpstr>
      <vt:lpstr>Assess (1 month)</vt:lpstr>
      <vt:lpstr>Why work with us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Alexies Adao</dc:creator>
  <cp:lastModifiedBy>Joel Deakin</cp:lastModifiedBy>
  <cp:revision>6</cp:revision>
  <cp:lastPrinted>2025-03-26T08:04:37Z</cp:lastPrinted>
  <dcterms:created xsi:type="dcterms:W3CDTF">2021-01-07T05:00:36Z</dcterms:created>
  <dcterms:modified xsi:type="dcterms:W3CDTF">2026-02-15T04:37:57Z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0x010100F6572071CF69B345B9C9AC3DDC05F214</vt:lpwstr>
  </property>
  <property fmtid="{D5CDD505-2E9C-101B-9397-08002B2CF9AE}" pid="3" name="MediaServiceImageTags">
    <vt:lpwstr/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bool>false</vt:bool>
  </property>
</Properties>
</file>